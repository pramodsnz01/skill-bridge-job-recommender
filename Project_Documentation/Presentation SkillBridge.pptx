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9" r:id="rId1"/>
  </p:sldMasterIdLst>
  <p:notesMasterIdLst>
    <p:notesMasterId r:id="rId20"/>
  </p:notesMasterIdLst>
  <p:sldIdLst>
    <p:sldId id="256" r:id="rId2"/>
    <p:sldId id="257" r:id="rId3"/>
    <p:sldId id="258" r:id="rId4"/>
    <p:sldId id="264" r:id="rId5"/>
    <p:sldId id="263" r:id="rId6"/>
    <p:sldId id="268" r:id="rId7"/>
    <p:sldId id="271" r:id="rId8"/>
    <p:sldId id="261" r:id="rId9"/>
    <p:sldId id="272" r:id="rId10"/>
    <p:sldId id="265" r:id="rId11"/>
    <p:sldId id="273" r:id="rId12"/>
    <p:sldId id="277" r:id="rId13"/>
    <p:sldId id="278" r:id="rId14"/>
    <p:sldId id="259" r:id="rId15"/>
    <p:sldId id="274" r:id="rId16"/>
    <p:sldId id="276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E8E8CE5-31E3-400F-A48F-A588F96E7CE8}">
          <p14:sldIdLst>
            <p14:sldId id="256"/>
            <p14:sldId id="257"/>
            <p14:sldId id="258"/>
            <p14:sldId id="264"/>
            <p14:sldId id="263"/>
            <p14:sldId id="268"/>
            <p14:sldId id="271"/>
            <p14:sldId id="261"/>
            <p14:sldId id="272"/>
            <p14:sldId id="265"/>
            <p14:sldId id="273"/>
            <p14:sldId id="277"/>
            <p14:sldId id="278"/>
            <p14:sldId id="259"/>
            <p14:sldId id="274"/>
            <p14:sldId id="276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7D4"/>
    <a:srgbClr val="F0F8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061" autoAdjust="0"/>
  </p:normalViewPr>
  <p:slideViewPr>
    <p:cSldViewPr snapToGrid="0">
      <p:cViewPr varScale="1">
        <p:scale>
          <a:sx n="67" d="100"/>
          <a:sy n="67" d="100"/>
        </p:scale>
        <p:origin x="834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292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FC8F81-B139-4E06-8085-9BAD117FD2C1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489A71-3CC5-4A28-B529-E65AB0BC6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199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89A71-3CC5-4A28-B529-E65AB0BC67C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345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89A71-3CC5-4A28-B529-E65AB0BC67C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991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89A71-3CC5-4A28-B529-E65AB0BC67C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3ECFA85-6BBC-4BC6-AAE4-AD9E368B852A}" type="datetime1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210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D0922-685D-4FE6-A0E1-037FF621D125}" type="datetime1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45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54393-AEBC-423B-A61F-5F03C3ABDC01}" type="datetime1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9867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EAEEA-88B9-447B-AEA9-6B970DBE449F}" type="datetime1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430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4ACF-6B6B-4123-A97B-42E1AFA0BCA9}" type="datetime1">
              <a:rPr lang="en-US" smtClean="0"/>
              <a:t>7/15/2025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942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4DB1-1BA8-4676-8F09-79EA2A3DE195}" type="datetime1">
              <a:rPr lang="en-US" smtClean="0"/>
              <a:t>7/15/2025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060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6E7A4-3205-4D60-B758-3C0FD4494D88}" type="datetime1">
              <a:rPr lang="en-US" smtClean="0"/>
              <a:t>7/15/2025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1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D091A-60A7-4415-B35B-CC48F492E1F6}" type="datetime1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129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47481-71BE-403A-BE17-6726B834123D}" type="datetime1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139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C9E8-DDFB-4EC1-9A0A-D92BF58296E1}" type="datetime1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36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A4B0-E166-419C-90AD-99939C3BDAF3}" type="datetime1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1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ED0A4-787B-41DB-9007-63C83F6BD43F}" type="datetime1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541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8B4D-DA16-404F-BC43-54A4679E2CE5}" type="datetime1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827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83E32-63AC-4BC2-B839-D193547095C2}" type="datetime1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59411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2D030-9D19-4845-8AAB-8EE0EA1AB694}" type="datetime1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4451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297AA-3713-48F9-9EE1-33BD1B6B6929}" type="datetime1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6566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07B73-32B4-4291-BB5C-924C8969DCD4}" type="datetime1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56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22EC6B7-B04A-4C71-AEC2-4F3E90BAC4C6}" type="datetime1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05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pacy.io/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64029598-7EC1-D170-F35E-E17FFEF0A84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9000"/>
          </a:blip>
          <a:srcRect l="-271" t="1977" r="271" b="21375"/>
          <a:stretch/>
        </p:blipFill>
        <p:spPr>
          <a:xfrm>
            <a:off x="3375680" y="1342102"/>
            <a:ext cx="5440640" cy="373134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B35D9E5-9AFD-9F49-0544-6770B1BC5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1910185"/>
            <a:ext cx="9601196" cy="595945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/>
                <a:cs typeface="Times New Roman"/>
              </a:rPr>
              <a:t>Resume Analyzer System</a:t>
            </a:r>
            <a:br>
              <a:rPr lang="en-US" sz="4000" b="1" dirty="0">
                <a:solidFill>
                  <a:schemeClr val="tx1"/>
                </a:solidFill>
                <a:latin typeface="Times New Roman"/>
                <a:cs typeface="Times New Roman"/>
              </a:rPr>
            </a:br>
            <a:endParaRPr lang="en-US" sz="4000" b="1" dirty="0">
              <a:solidFill>
                <a:srgbClr val="FFFF00"/>
              </a:solidFill>
            </a:endParaRP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D54AB9EC-BC68-B0FE-AED8-6963D5ADA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9030" y="2757399"/>
            <a:ext cx="9293939" cy="206477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b="1" u="sng" dirty="0">
                <a:latin typeface="Times New Roman"/>
                <a:cs typeface="Times New Roman"/>
              </a:rPr>
              <a:t>Presented By</a:t>
            </a:r>
          </a:p>
          <a:p>
            <a:pPr algn="ctr"/>
            <a:r>
              <a:rPr lang="en-US" sz="2000" b="1" dirty="0">
                <a:latin typeface="Times New Roman"/>
                <a:cs typeface="Times New Roman"/>
              </a:rPr>
              <a:t>Alok Jha</a:t>
            </a:r>
            <a:endParaRPr lang="en-US" sz="2000" dirty="0">
              <a:latin typeface="Times New Roman"/>
              <a:cs typeface="Times New Roman"/>
            </a:endParaRPr>
          </a:p>
          <a:p>
            <a:pPr algn="ctr">
              <a:buClr>
                <a:schemeClr val="tx1"/>
              </a:buClr>
            </a:pPr>
            <a:r>
              <a:rPr lang="en-US" sz="2200" b="1" dirty="0">
                <a:latin typeface="Times New Roman"/>
                <a:cs typeface="Times New Roman"/>
              </a:rPr>
              <a:t>Jayant Joshi</a:t>
            </a:r>
          </a:p>
          <a:p>
            <a:pPr algn="ctr">
              <a:buClr>
                <a:schemeClr val="tx1"/>
              </a:buClr>
            </a:pPr>
            <a:r>
              <a:rPr lang="en-US" sz="2000" b="1" dirty="0">
                <a:latin typeface="Times New Roman"/>
                <a:cs typeface="Times New Roman"/>
              </a:rPr>
              <a:t>Pramod Singh</a:t>
            </a:r>
          </a:p>
          <a:p>
            <a:pPr marL="342900" indent="-342900" algn="ctr">
              <a:buClr>
                <a:schemeClr val="tx1"/>
              </a:buClr>
              <a:buFont typeface="Arial"/>
              <a:buChar char="•"/>
            </a:pP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3" name="Text Placeholder 34">
            <a:extLst>
              <a:ext uri="{FF2B5EF4-FFF2-40B4-BE49-F238E27FC236}">
                <a16:creationId xmlns:a16="http://schemas.microsoft.com/office/drawing/2014/main" id="{5B41E088-E6F7-92C3-49F9-BE3C14F25399}"/>
              </a:ext>
            </a:extLst>
          </p:cNvPr>
          <p:cNvSpPr txBox="1">
            <a:spLocks/>
          </p:cNvSpPr>
          <p:nvPr/>
        </p:nvSpPr>
        <p:spPr>
          <a:xfrm>
            <a:off x="8816320" y="5641527"/>
            <a:ext cx="2362957" cy="5604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2000" dirty="0">
                <a:latin typeface="Times New Roman"/>
                <a:cs typeface="Times New Roman"/>
              </a:rPr>
              <a:t>Date: 25</a:t>
            </a:r>
            <a:r>
              <a:rPr lang="en-US" sz="2000" baseline="30000" dirty="0">
                <a:latin typeface="Times New Roman"/>
                <a:cs typeface="Times New Roman"/>
              </a:rPr>
              <a:t>th</a:t>
            </a:r>
            <a:r>
              <a:rPr lang="en-US" sz="2000" dirty="0">
                <a:latin typeface="Times New Roman"/>
                <a:cs typeface="Times New Roman"/>
              </a:rPr>
              <a:t> Jun, 2025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C6AE525E-7287-30E7-80B6-8A16A7A59E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l="-271" t="1977" r="271" b="21375"/>
          <a:stretch/>
        </p:blipFill>
        <p:spPr>
          <a:xfrm>
            <a:off x="3375680" y="1342102"/>
            <a:ext cx="5440640" cy="373134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A2D2AE0-E963-77B2-BA68-6F222B7404E6}"/>
              </a:ext>
            </a:extLst>
          </p:cNvPr>
          <p:cNvSpPr txBox="1"/>
          <p:nvPr/>
        </p:nvSpPr>
        <p:spPr>
          <a:xfrm>
            <a:off x="4149213" y="1524000"/>
            <a:ext cx="4483841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Features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Block Diagram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results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Future Enhancement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6912A43-8991-7721-8D65-32A269E8FBF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438466" y="780309"/>
            <a:ext cx="1315065" cy="524096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2DF907D-D4D4-2900-A2AF-7989A806F463}"/>
              </a:ext>
            </a:extLst>
          </p:cNvPr>
          <p:cNvCxnSpPr/>
          <p:nvPr/>
        </p:nvCxnSpPr>
        <p:spPr>
          <a:xfrm>
            <a:off x="1351472" y="1275281"/>
            <a:ext cx="9992262" cy="1437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70A5A1-40E4-2A31-21F6-056F2E42F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800" smtClean="0"/>
              <a:pPr/>
              <a:t>2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17814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571AB8-B95F-2404-32BF-140C950D795D}"/>
              </a:ext>
            </a:extLst>
          </p:cNvPr>
          <p:cNvSpPr txBox="1"/>
          <p:nvPr/>
        </p:nvSpPr>
        <p:spPr>
          <a:xfrm>
            <a:off x="4295598" y="805415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latin typeface="Times New Roman"/>
                <a:cs typeface="Times New Roman"/>
              </a:rPr>
              <a:t>   Introduction</a:t>
            </a:r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BEEF69E-1DE5-8CF7-3390-E59C519B2465}"/>
              </a:ext>
            </a:extLst>
          </p:cNvPr>
          <p:cNvCxnSpPr/>
          <p:nvPr/>
        </p:nvCxnSpPr>
        <p:spPr>
          <a:xfrm>
            <a:off x="1351472" y="1275281"/>
            <a:ext cx="9992262" cy="1437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167E7C39-197F-309B-2E29-13AF66D7DC5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l="-271" t="1977" r="271" b="21375"/>
          <a:stretch/>
        </p:blipFill>
        <p:spPr>
          <a:xfrm>
            <a:off x="3375680" y="1327354"/>
            <a:ext cx="5440640" cy="37313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C3779C-CD2D-477A-D366-9661F50D98B9}"/>
              </a:ext>
            </a:extLst>
          </p:cNvPr>
          <p:cNvSpPr txBox="1"/>
          <p:nvPr/>
        </p:nvSpPr>
        <p:spPr>
          <a:xfrm>
            <a:off x="1722448" y="1674353"/>
            <a:ext cx="8631453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Resume Analysis: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analyzes resumes using AI and NLP to extract skills, education, and experience for smarter evaluation.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🌐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Fully Offline: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to function without internet, making it accessible in classrooms, labs, and low-resource settings.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🎓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+ Educational Tool: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improve career readiness and also serves as a learning tool to demonstrate real-world AI applications.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B809A4-028A-2198-FF8A-6B17809FD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800" smtClean="0"/>
              <a:pPr/>
              <a:t>3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5075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571AB8-B95F-2404-32BF-140C950D795D}"/>
              </a:ext>
            </a:extLst>
          </p:cNvPr>
          <p:cNvSpPr txBox="1"/>
          <p:nvPr/>
        </p:nvSpPr>
        <p:spPr>
          <a:xfrm>
            <a:off x="4428703" y="816348"/>
            <a:ext cx="278492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 Problem Statement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BEEF69E-1DE5-8CF7-3390-E59C519B2465}"/>
              </a:ext>
            </a:extLst>
          </p:cNvPr>
          <p:cNvCxnSpPr/>
          <p:nvPr/>
        </p:nvCxnSpPr>
        <p:spPr>
          <a:xfrm>
            <a:off x="1327968" y="1263265"/>
            <a:ext cx="9992262" cy="1437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00E04322-AB57-14E1-1E9C-19BF14E1488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l="-271" t="1977" r="271" b="21375"/>
          <a:stretch/>
        </p:blipFill>
        <p:spPr>
          <a:xfrm>
            <a:off x="3375680" y="1327354"/>
            <a:ext cx="5440640" cy="37313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615621-B4F3-0BF9-1916-C243B1EDFE90}"/>
              </a:ext>
            </a:extLst>
          </p:cNvPr>
          <p:cNvSpPr txBox="1"/>
          <p:nvPr/>
        </p:nvSpPr>
        <p:spPr>
          <a:xfrm>
            <a:off x="1555514" y="1431411"/>
            <a:ext cx="9537169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struggle to evaluate how well their resumes align with career goals.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resume reviews are manual, slow, and lack consistent feedback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are costly, online-only, or limited to proprietary platforms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need exists for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offline tool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give personalized, automated feedback.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CD531-3738-0EC1-C42F-9D9DC9DC9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800" smtClean="0"/>
              <a:pPr/>
              <a:t>4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22483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2495B1CE-F310-9B4B-6998-FA0136D2BB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l="-271" t="1977" r="271" b="21375"/>
          <a:stretch/>
        </p:blipFill>
        <p:spPr>
          <a:xfrm>
            <a:off x="3375680" y="1327354"/>
            <a:ext cx="5440640" cy="37313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571AB8-B95F-2404-32BF-140C950D795D}"/>
              </a:ext>
            </a:extLst>
          </p:cNvPr>
          <p:cNvSpPr txBox="1"/>
          <p:nvPr/>
        </p:nvSpPr>
        <p:spPr>
          <a:xfrm>
            <a:off x="5320473" y="785893"/>
            <a:ext cx="155105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 Objective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BEEF69E-1DE5-8CF7-3390-E59C519B2465}"/>
              </a:ext>
            </a:extLst>
          </p:cNvPr>
          <p:cNvCxnSpPr/>
          <p:nvPr/>
        </p:nvCxnSpPr>
        <p:spPr>
          <a:xfrm>
            <a:off x="1277335" y="1271176"/>
            <a:ext cx="9992262" cy="1437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A4840E-999B-C9F8-2111-39948A8EEDCD}"/>
              </a:ext>
            </a:extLst>
          </p:cNvPr>
          <p:cNvSpPr txBox="1"/>
          <p:nvPr/>
        </p:nvSpPr>
        <p:spPr>
          <a:xfrm>
            <a:off x="1773744" y="1881122"/>
            <a:ext cx="8851505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software system that analyzes resumes and extracts key information like skills, education, and experience using AI is our main aim. 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automate the resume evaluation process and provide personalized career and learning suggestions.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a secure, offline-accessible platform that stores and manages user resume data efficiently.</a:t>
            </a:r>
          </a:p>
          <a:p>
            <a:pPr marL="342900" indent="-342900" algn="just">
              <a:buFont typeface="Arial"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29C6A-28DB-8FC8-898E-F681EA34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800" smtClean="0"/>
              <a:pPr/>
              <a:t>5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0706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BEEF69E-1DE5-8CF7-3390-E59C519B2465}"/>
              </a:ext>
            </a:extLst>
          </p:cNvPr>
          <p:cNvCxnSpPr/>
          <p:nvPr/>
        </p:nvCxnSpPr>
        <p:spPr>
          <a:xfrm>
            <a:off x="1354473" y="1266833"/>
            <a:ext cx="9992262" cy="1437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BCE3A65F-89C7-E86A-6818-0524455AF70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rcRect l="-271" t="1977" r="271" b="21375"/>
          <a:stretch/>
        </p:blipFill>
        <p:spPr>
          <a:xfrm>
            <a:off x="3375680" y="1327354"/>
            <a:ext cx="5440640" cy="37313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D552E0-8709-DDDD-61F1-F1BE1026F036}"/>
              </a:ext>
            </a:extLst>
          </p:cNvPr>
          <p:cNvSpPr txBox="1"/>
          <p:nvPr/>
        </p:nvSpPr>
        <p:spPr>
          <a:xfrm>
            <a:off x="1634339" y="1349248"/>
            <a:ext cx="9432529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Upload: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securely upload resumes in PDF or DOCX format for analysis.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and Experience Extraction: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extracts key skills, education, experience, and relevant keywords using NLP.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Domain Prediction: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suitable career fields based on resume content.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Gap Identification: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missing skills or qualifications and suggests areas for improvement.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Dashboard: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each user with a dashboard showing recent analyses and insights.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Generation: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downloadable PDF reports summarizing analysis results and recommendations.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Functionality: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to run entirely on a local machine without internet.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9BB5C2-FE1A-3EF9-9C11-D52CF5F0DFC4}"/>
              </a:ext>
            </a:extLst>
          </p:cNvPr>
          <p:cNvSpPr txBox="1"/>
          <p:nvPr/>
        </p:nvSpPr>
        <p:spPr>
          <a:xfrm>
            <a:off x="5419974" y="790420"/>
            <a:ext cx="135205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Features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087E65-814B-F669-37BA-12C60F3DA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800" smtClean="0"/>
              <a:pPr/>
              <a:t>6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72226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BEEF69E-1DE5-8CF7-3390-E59C519B2465}"/>
              </a:ext>
            </a:extLst>
          </p:cNvPr>
          <p:cNvCxnSpPr/>
          <p:nvPr/>
        </p:nvCxnSpPr>
        <p:spPr>
          <a:xfrm>
            <a:off x="1354473" y="1266833"/>
            <a:ext cx="9992262" cy="1437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BCE3A65F-89C7-E86A-6818-0524455AF70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rcRect l="-271" t="1977" r="271" b="21375"/>
          <a:stretch/>
        </p:blipFill>
        <p:spPr>
          <a:xfrm>
            <a:off x="3375680" y="1327354"/>
            <a:ext cx="5440640" cy="37313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D552E0-8709-DDDD-61F1-F1BE1026F036}"/>
              </a:ext>
            </a:extLst>
          </p:cNvPr>
          <p:cNvSpPr txBox="1"/>
          <p:nvPr/>
        </p:nvSpPr>
        <p:spPr>
          <a:xfrm>
            <a:off x="1908738" y="1485926"/>
            <a:ext cx="8883732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Tool: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colleges and training centers to teach students how resumes are evaluated.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Counseling: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Assists counselors in analyzing students’ resumes and providing data-driven suggestions.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Portfolio Evaluation: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institutions and students evaluate academic and extracurricular achievements.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 &amp; Recruitment Simulation: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risk-free environment to simulate resume screening processes.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for Career Platforms: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a foundation for developing AI-powered career guidance platforms.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Resume Analysis: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resume feedback in low-resource environments using a fully local system.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9BB5C2-FE1A-3EF9-9C11-D52CF5F0DFC4}"/>
              </a:ext>
            </a:extLst>
          </p:cNvPr>
          <p:cNvSpPr txBox="1"/>
          <p:nvPr/>
        </p:nvSpPr>
        <p:spPr>
          <a:xfrm>
            <a:off x="5160077" y="804217"/>
            <a:ext cx="187184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Applications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63AB5-39CB-23BA-668E-302365CD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800" smtClean="0"/>
              <a:pPr/>
              <a:t>7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6971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571AB8-B95F-2404-32BF-140C950D795D}"/>
              </a:ext>
            </a:extLst>
          </p:cNvPr>
          <p:cNvSpPr txBox="1"/>
          <p:nvPr/>
        </p:nvSpPr>
        <p:spPr>
          <a:xfrm>
            <a:off x="5128928" y="805517"/>
            <a:ext cx="193414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latin typeface="Times New Roman"/>
                <a:cs typeface="Times New Roman"/>
              </a:rPr>
              <a:t>Methodology</a:t>
            </a:r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BEEF69E-1DE5-8CF7-3390-E59C519B2465}"/>
              </a:ext>
            </a:extLst>
          </p:cNvPr>
          <p:cNvCxnSpPr/>
          <p:nvPr/>
        </p:nvCxnSpPr>
        <p:spPr>
          <a:xfrm>
            <a:off x="1325093" y="1267182"/>
            <a:ext cx="9992262" cy="1437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BB876F2E-0BC1-03CF-4027-C7FAF5BF80A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l="-271" t="1977" r="271" b="21375"/>
          <a:stretch/>
        </p:blipFill>
        <p:spPr>
          <a:xfrm>
            <a:off x="3375680" y="1327354"/>
            <a:ext cx="5440640" cy="37313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D42E0B-37F5-B675-6C26-6ECCB2B9567D}"/>
              </a:ext>
            </a:extLst>
          </p:cNvPr>
          <p:cNvSpPr txBox="1"/>
          <p:nvPr/>
        </p:nvSpPr>
        <p:spPr>
          <a:xfrm>
            <a:off x="1630301" y="1490534"/>
            <a:ext cx="9381845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&amp; Analysis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Studied existing resume evaluation systems and identified gaps in automation, accessibility, and personalization.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Designed a modular architecture with components for resume parsing, skill extraction, and career prediction.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Implemented the system using React, Tailwind CSS, Node.js, Python (Flask), MongoDB, and NLP tools like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NLTK.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Feedback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Performed functional testing, handled edge cases, and incorporated user feedback to enhance accuracy and usability.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0C5273-F714-3A63-A125-B50B2DEDD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800" smtClean="0"/>
              <a:pPr/>
              <a:t>8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36458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571AB8-B95F-2404-32BF-140C950D795D}"/>
              </a:ext>
            </a:extLst>
          </p:cNvPr>
          <p:cNvSpPr txBox="1"/>
          <p:nvPr/>
        </p:nvSpPr>
        <p:spPr>
          <a:xfrm>
            <a:off x="5128928" y="805517"/>
            <a:ext cx="193414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latin typeface="Times New Roman"/>
                <a:cs typeface="Times New Roman"/>
              </a:rPr>
              <a:t>Model Used</a:t>
            </a:r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BEEF69E-1DE5-8CF7-3390-E59C519B2465}"/>
              </a:ext>
            </a:extLst>
          </p:cNvPr>
          <p:cNvCxnSpPr/>
          <p:nvPr/>
        </p:nvCxnSpPr>
        <p:spPr>
          <a:xfrm>
            <a:off x="1325093" y="1267182"/>
            <a:ext cx="9992262" cy="1437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BB876F2E-0BC1-03CF-4027-C7FAF5BF80A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l="-271" t="1977" r="271" b="21375"/>
          <a:stretch/>
        </p:blipFill>
        <p:spPr>
          <a:xfrm>
            <a:off x="3375680" y="1327354"/>
            <a:ext cx="5440640" cy="37313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D42E0B-37F5-B675-6C26-6ECCB2B9567D}"/>
              </a:ext>
            </a:extLst>
          </p:cNvPr>
          <p:cNvSpPr txBox="1"/>
          <p:nvPr/>
        </p:nvSpPr>
        <p:spPr>
          <a:xfrm>
            <a:off x="1630301" y="1805166"/>
            <a:ext cx="9381845" cy="32316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en_core_web_sm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Pre-trained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en_core_web_sm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NLTK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tasks like tokenization, entity recognition, and POS(Part-of-Speech) tagging.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applies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logic and keyword matching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extract skills, predict career domains, and suggest learning improvements.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24D931-7097-253D-B4D9-3470F6465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800" smtClean="0"/>
              <a:pPr/>
              <a:t>9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71154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571AB8-B95F-2404-32BF-140C950D795D}"/>
              </a:ext>
            </a:extLst>
          </p:cNvPr>
          <p:cNvSpPr txBox="1"/>
          <p:nvPr/>
        </p:nvSpPr>
        <p:spPr>
          <a:xfrm>
            <a:off x="4797994" y="769372"/>
            <a:ext cx="329319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System Flow Diagram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C27570-4A2B-A5EC-1703-FFFBC029FADE}"/>
              </a:ext>
            </a:extLst>
          </p:cNvPr>
          <p:cNvSpPr txBox="1"/>
          <p:nvPr/>
        </p:nvSpPr>
        <p:spPr>
          <a:xfrm>
            <a:off x="5072990" y="5868780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Fig 1: Flow Diagram</a:t>
            </a:r>
            <a:endParaRPr lang="en-US" dirty="0">
              <a:ea typeface="+mn-lt"/>
              <a:cs typeface="+mn-lt"/>
            </a:endParaRPr>
          </a:p>
          <a:p>
            <a:pPr algn="l"/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86114A8-F24B-C222-B6EB-A2E030A2B91D}"/>
              </a:ext>
            </a:extLst>
          </p:cNvPr>
          <p:cNvCxnSpPr/>
          <p:nvPr/>
        </p:nvCxnSpPr>
        <p:spPr>
          <a:xfrm>
            <a:off x="1351472" y="1276069"/>
            <a:ext cx="9992262" cy="1188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2B368D-84BA-D385-8159-56CA98C4E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800" smtClean="0"/>
              <a:pPr/>
              <a:t>10</a:t>
            </a:fld>
            <a:endParaRPr lang="en-US" sz="1800" dirty="0"/>
          </a:p>
        </p:txBody>
      </p:sp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09F831B-42CA-14D2-77B1-7AB8B2D9E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106" y="1331052"/>
            <a:ext cx="5181594" cy="453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516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686A7-A549-F863-EA2A-89CC90B86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CE0159-FD39-0ED4-9794-292C0BFF8D7C}"/>
              </a:ext>
            </a:extLst>
          </p:cNvPr>
          <p:cNvSpPr txBox="1"/>
          <p:nvPr/>
        </p:nvSpPr>
        <p:spPr>
          <a:xfrm>
            <a:off x="4797994" y="769372"/>
            <a:ext cx="329319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Use Case Diagram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0C7CC9-3A8C-A976-7215-4DE43E2F8FDF}"/>
              </a:ext>
            </a:extLst>
          </p:cNvPr>
          <p:cNvSpPr txBox="1"/>
          <p:nvPr/>
        </p:nvSpPr>
        <p:spPr>
          <a:xfrm>
            <a:off x="5072990" y="5868780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Fig 1: Use Case Diagram</a:t>
            </a:r>
            <a:endParaRPr lang="en-US" dirty="0">
              <a:ea typeface="+mn-lt"/>
              <a:cs typeface="+mn-lt"/>
            </a:endParaRPr>
          </a:p>
          <a:p>
            <a:pPr algn="l"/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D78D8F6-79CE-E138-6A07-F02B1241D285}"/>
              </a:ext>
            </a:extLst>
          </p:cNvPr>
          <p:cNvCxnSpPr/>
          <p:nvPr/>
        </p:nvCxnSpPr>
        <p:spPr>
          <a:xfrm>
            <a:off x="1351472" y="1276069"/>
            <a:ext cx="9992262" cy="1188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644BCA5-46C1-01E6-0A17-FBFE45665B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47767" y="1455192"/>
            <a:ext cx="3768423" cy="433227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001DF1-39C2-6C2A-7D1C-C49446389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800" smtClean="0"/>
              <a:pPr/>
              <a:t>11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93154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68DBE-4AFA-8847-6838-A300BDB7A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417572-92C5-4371-87BD-DADE70259910}"/>
              </a:ext>
            </a:extLst>
          </p:cNvPr>
          <p:cNvSpPr txBox="1"/>
          <p:nvPr/>
        </p:nvSpPr>
        <p:spPr>
          <a:xfrm>
            <a:off x="4519075" y="755843"/>
            <a:ext cx="315385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Results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CDD2E46-C4D6-B1CB-0364-AE4962A0CC02}"/>
              </a:ext>
            </a:extLst>
          </p:cNvPr>
          <p:cNvCxnSpPr/>
          <p:nvPr/>
        </p:nvCxnSpPr>
        <p:spPr>
          <a:xfrm>
            <a:off x="1325093" y="1267182"/>
            <a:ext cx="9992262" cy="1437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BB342416-DDB6-4A93-BD9B-A066CD7F21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l="-271" t="1977" r="271" b="21375"/>
          <a:stretch/>
        </p:blipFill>
        <p:spPr>
          <a:xfrm>
            <a:off x="3375680" y="1327354"/>
            <a:ext cx="5440640" cy="37313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36475E-A456-852E-FE14-7E0078FA5EE2}"/>
              </a:ext>
            </a:extLst>
          </p:cNvPr>
          <p:cNvSpPr txBox="1"/>
          <p:nvPr/>
        </p:nvSpPr>
        <p:spPr>
          <a:xfrm>
            <a:off x="1465006" y="1281558"/>
            <a:ext cx="9852349" cy="35086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Methods: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API endpoints, AI functions, output formats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test: Resume upload → analysis → result display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modules communicate properly (frontend ↔ backend ↔ AI ↔ DB)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34D7420-2BA9-6205-B010-6D2BDDBEF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084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1784E-AB15-B7C5-6A50-65ED91D8E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FE5D736-F85F-8667-0C98-D4494A732166}"/>
              </a:ext>
            </a:extLst>
          </p:cNvPr>
          <p:cNvCxnSpPr/>
          <p:nvPr/>
        </p:nvCxnSpPr>
        <p:spPr>
          <a:xfrm>
            <a:off x="1325093" y="1267182"/>
            <a:ext cx="9992262" cy="1437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8C0D1A96-81E1-DF0B-DD59-4FE242FA4B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l="-271" t="1977" r="271" b="21375"/>
          <a:stretch/>
        </p:blipFill>
        <p:spPr>
          <a:xfrm>
            <a:off x="3375680" y="1327354"/>
            <a:ext cx="5440640" cy="37313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420E50-D91D-DAC2-1914-1428DC452245}"/>
              </a:ext>
            </a:extLst>
          </p:cNvPr>
          <p:cNvSpPr txBox="1"/>
          <p:nvPr/>
        </p:nvSpPr>
        <p:spPr>
          <a:xfrm>
            <a:off x="1897626" y="1281558"/>
            <a:ext cx="8092374" cy="55399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Testing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all key features: login, upload, chatbot, analysis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UI/UX Testing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testing on multiple screen sizes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layout, navigation, and responsiveness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Testing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JWT protection,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 hashing, route protection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 Testing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from 3 users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layout and error messages based on feedback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Testing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 resume upload time, analysis speed, and UI response time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47A3A84-AA8A-D7F5-1760-D46FC5E97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EEA268-7504-782D-0F3E-95433F4444C4}"/>
              </a:ext>
            </a:extLst>
          </p:cNvPr>
          <p:cNvSpPr txBox="1"/>
          <p:nvPr/>
        </p:nvSpPr>
        <p:spPr>
          <a:xfrm>
            <a:off x="4519075" y="755843"/>
            <a:ext cx="315385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Results</a:t>
            </a: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02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571AB8-B95F-2404-32BF-140C950D795D}"/>
              </a:ext>
            </a:extLst>
          </p:cNvPr>
          <p:cNvSpPr txBox="1"/>
          <p:nvPr/>
        </p:nvSpPr>
        <p:spPr>
          <a:xfrm>
            <a:off x="4877169" y="795051"/>
            <a:ext cx="24376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Output</a:t>
            </a:r>
            <a:endParaRPr lang="en-US" sz="2400" dirty="0">
              <a:ea typeface="+mn-lt"/>
              <a:cs typeface="+mn-lt"/>
            </a:endParaRPr>
          </a:p>
        </p:txBody>
      </p:sp>
      <p:pic>
        <p:nvPicPr>
          <p:cNvPr id="6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C23E16FB-07A4-40F7-0D7B-3D4A9D04A8C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l="-271" t="1977" r="271" b="21375"/>
          <a:stretch/>
        </p:blipFill>
        <p:spPr>
          <a:xfrm>
            <a:off x="3375680" y="1327354"/>
            <a:ext cx="5440640" cy="3731342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BEEF69E-1DE5-8CF7-3390-E59C519B2465}"/>
              </a:ext>
            </a:extLst>
          </p:cNvPr>
          <p:cNvCxnSpPr/>
          <p:nvPr/>
        </p:nvCxnSpPr>
        <p:spPr>
          <a:xfrm>
            <a:off x="1274960" y="1271836"/>
            <a:ext cx="9992262" cy="1437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CC822C2-0C22-153B-C2FD-66CA1D730483}"/>
              </a:ext>
            </a:extLst>
          </p:cNvPr>
          <p:cNvSpPr txBox="1"/>
          <p:nvPr/>
        </p:nvSpPr>
        <p:spPr>
          <a:xfrm>
            <a:off x="1916678" y="1327354"/>
            <a:ext cx="8358643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expected to perform key functions such as secure user login, resume upload, AI-powered skill extraction, and career prediction.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interface will be intuitive and easy to navigate.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generate downloadable PDF reports summarizing each resume analysis.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feedback is expected to reflect high satisfaction with the platform’s usability and usefulness, especially in academic environments.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1AE76C-D50D-292B-CA3E-1398FF54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800" smtClean="0"/>
              <a:pPr/>
              <a:t>14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07545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C7879-668B-7694-B4AD-616E768F1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EEC344-53A4-8746-0BA7-FD11FE6EF134}"/>
              </a:ext>
            </a:extLst>
          </p:cNvPr>
          <p:cNvSpPr txBox="1"/>
          <p:nvPr/>
        </p:nvSpPr>
        <p:spPr>
          <a:xfrm>
            <a:off x="4138863" y="795051"/>
            <a:ext cx="421907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pic>
        <p:nvPicPr>
          <p:cNvPr id="6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1D33E23E-5F83-0295-FE99-D147472519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l="-271" t="1977" r="271" b="21375"/>
          <a:stretch/>
        </p:blipFill>
        <p:spPr>
          <a:xfrm>
            <a:off x="3375680" y="1327354"/>
            <a:ext cx="5440640" cy="3731342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52055BB-17F9-2C19-98C2-1E9461E4287E}"/>
              </a:ext>
            </a:extLst>
          </p:cNvPr>
          <p:cNvCxnSpPr/>
          <p:nvPr/>
        </p:nvCxnSpPr>
        <p:spPr>
          <a:xfrm>
            <a:off x="1274960" y="1271836"/>
            <a:ext cx="9992262" cy="1437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AD39294-11AF-2B65-D954-A61D63F23210}"/>
              </a:ext>
            </a:extLst>
          </p:cNvPr>
          <p:cNvSpPr txBox="1"/>
          <p:nvPr/>
        </p:nvSpPr>
        <p:spPr>
          <a:xfrm>
            <a:off x="1916678" y="1327354"/>
            <a:ext cx="8358643" cy="22561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advanced NLP with GPT/Transformer models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resume support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 profile analyzer integration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job openings matching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42850B-3AE7-FFBA-BE40-39A692602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942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F7F43-FFD1-CB05-6610-5285B4D52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733F55-EE22-962A-2AAE-A9ABABC44C90}"/>
              </a:ext>
            </a:extLst>
          </p:cNvPr>
          <p:cNvSpPr txBox="1"/>
          <p:nvPr/>
        </p:nvSpPr>
        <p:spPr>
          <a:xfrm>
            <a:off x="4817806" y="765555"/>
            <a:ext cx="20840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Conclusion</a:t>
            </a:r>
            <a:endParaRPr lang="en-US" sz="2400" dirty="0">
              <a:ea typeface="+mn-lt"/>
              <a:cs typeface="+mn-lt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D48E254-C21C-B53C-50C6-C7E9920F424E}"/>
              </a:ext>
            </a:extLst>
          </p:cNvPr>
          <p:cNvCxnSpPr/>
          <p:nvPr/>
        </p:nvCxnSpPr>
        <p:spPr>
          <a:xfrm>
            <a:off x="1274960" y="1271376"/>
            <a:ext cx="9992262" cy="1437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Logo, company name">
            <a:extLst>
              <a:ext uri="{FF2B5EF4-FFF2-40B4-BE49-F238E27FC236}">
                <a16:creationId xmlns:a16="http://schemas.microsoft.com/office/drawing/2014/main" id="{06CFFE4B-C464-ADC0-7103-ACA2A87451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l="-271" t="1977" r="271" b="21375"/>
          <a:stretch/>
        </p:blipFill>
        <p:spPr>
          <a:xfrm>
            <a:off x="3375680" y="1327354"/>
            <a:ext cx="5440640" cy="37313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FBDF14-DFD2-B178-30CE-ABBE14743B7F}"/>
              </a:ext>
            </a:extLst>
          </p:cNvPr>
          <p:cNvSpPr txBox="1"/>
          <p:nvPr/>
        </p:nvSpPr>
        <p:spPr>
          <a:xfrm>
            <a:off x="1274960" y="1733428"/>
            <a:ext cx="9992262" cy="33499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AI-Powered Resume Analyzer simplifies and improves resume screening using artificial intelligence.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combines frontend and backend technologies with machine learning to deliver fast, personalized career advice and insights.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user-friendly, scalable, and solves a real-world problem for both job seekers and recruiters.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6BB6F-AF1D-DCC1-6640-CD0A413A7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800" smtClean="0"/>
              <a:pPr/>
              <a:t>16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12965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571AB8-B95F-2404-32BF-140C950D795D}"/>
              </a:ext>
            </a:extLst>
          </p:cNvPr>
          <p:cNvSpPr txBox="1"/>
          <p:nvPr/>
        </p:nvSpPr>
        <p:spPr>
          <a:xfrm>
            <a:off x="5290124" y="765555"/>
            <a:ext cx="161175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References</a:t>
            </a:r>
            <a:endParaRPr lang="en-US" sz="2400" dirty="0">
              <a:ea typeface="+mn-lt"/>
              <a:cs typeface="+mn-lt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BEEF69E-1DE5-8CF7-3390-E59C519B2465}"/>
              </a:ext>
            </a:extLst>
          </p:cNvPr>
          <p:cNvCxnSpPr/>
          <p:nvPr/>
        </p:nvCxnSpPr>
        <p:spPr>
          <a:xfrm>
            <a:off x="1274960" y="1271376"/>
            <a:ext cx="9992262" cy="14376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Logo, company name">
            <a:extLst>
              <a:ext uri="{FF2B5EF4-FFF2-40B4-BE49-F238E27FC236}">
                <a16:creationId xmlns:a16="http://schemas.microsoft.com/office/drawing/2014/main" id="{25693103-3E24-338A-8952-268660AD315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l="-271" t="1977" r="271" b="21375"/>
          <a:stretch/>
        </p:blipFill>
        <p:spPr>
          <a:xfrm>
            <a:off x="3375680" y="1327354"/>
            <a:ext cx="5440640" cy="37313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C822C2-0C22-153B-C2FD-66CA1D730483}"/>
              </a:ext>
            </a:extLst>
          </p:cNvPr>
          <p:cNvSpPr txBox="1"/>
          <p:nvPr/>
        </p:nvSpPr>
        <p:spPr>
          <a:xfrm>
            <a:off x="1355803" y="1719052"/>
            <a:ext cx="9830575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6350" marR="635" indent="-6350" algn="just">
              <a:spcBef>
                <a:spcPts val="1200"/>
              </a:spcBef>
              <a:spcAft>
                <a:spcPts val="2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[1] F. Chollet, </a:t>
            </a:r>
            <a:r>
              <a:rPr lang="en-US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Deep Learning with Python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2nd ed. Shelter Island, NY, USA: Manning Publications, 2021.</a:t>
            </a:r>
          </a:p>
          <a:p>
            <a:pPr marL="6350" marR="635" indent="-6350" algn="just">
              <a:spcBef>
                <a:spcPts val="0"/>
              </a:spcBef>
              <a:spcAft>
                <a:spcPts val="2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[2] S. Bird, E. Klein, and E.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Loper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Natural Language Processing with Python: Analyzing Text with the Natural Language Toolkit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Sebastopol, CA, USA: O’Reilly Media, 2009.</a:t>
            </a:r>
          </a:p>
          <a:p>
            <a:pPr marL="6350" marR="635" indent="-6350" algn="just">
              <a:spcBef>
                <a:spcPts val="0"/>
              </a:spcBef>
              <a:spcAft>
                <a:spcPts val="2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[3]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ExplosionAI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“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spaCy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Industrial-strength Natural Language Processing in Python,” [Online]. Available: </a:t>
            </a:r>
            <a:r>
              <a:rPr lang="en-US" sz="18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https://spacy.io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[Accessed: Jun. 25, 2025].</a:t>
            </a:r>
          </a:p>
          <a:p>
            <a:pPr marL="6350" marR="635" indent="-6350" algn="just">
              <a:spcBef>
                <a:spcPts val="0"/>
              </a:spcBef>
              <a:spcAft>
                <a:spcPts val="2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[4] R. Burke, “Hybrid Recommender Systems: Survey and Experiments,” </a:t>
            </a:r>
            <a:r>
              <a:rPr lang="en-US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User Modeling and User-Adapted Interaction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vol. 12, no. 4, pp. 331–370, 2002.</a:t>
            </a:r>
          </a:p>
          <a:p>
            <a:pPr marL="6350" marR="635" indent="-6350" algn="just">
              <a:spcBef>
                <a:spcPts val="0"/>
              </a:spcBef>
              <a:spcAft>
                <a:spcPts val="2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[5] M.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Pazzani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D.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Billsus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“Content-Based Recommendation Systems,” in </a:t>
            </a:r>
            <a:r>
              <a:rPr lang="en-US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Adaptive Web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Berlin, Germany: Springer, 2007, pp. 325–341.</a:t>
            </a:r>
          </a:p>
          <a:p>
            <a:pPr marL="6350" marR="635" indent="-6350" algn="just">
              <a:spcBef>
                <a:spcPts val="0"/>
              </a:spcBef>
              <a:spcAft>
                <a:spcPts val="2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[6] B. Sarwar, G.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Karypis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J.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Konstan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and J.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Riedl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“Item-based Collaborative Filtering Recommendation Algorithms,” in </a:t>
            </a:r>
            <a:r>
              <a:rPr lang="en-US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Proc. 10th Int. Conf. World Wide Web (WWW)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Hong Kong, China, 2001, pp. 285–295.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DC603-E266-8FE2-8746-539ED5079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800" smtClean="0"/>
              <a:pPr/>
              <a:t>17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98460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ED2C9B4C-F8B6-2512-7070-EF0DB77C2D0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l="-271" t="1977" r="271" b="21375"/>
          <a:stretch/>
        </p:blipFill>
        <p:spPr>
          <a:xfrm>
            <a:off x="3375680" y="1327354"/>
            <a:ext cx="5440640" cy="37313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C822C2-0C22-153B-C2FD-66CA1D730483}"/>
              </a:ext>
            </a:extLst>
          </p:cNvPr>
          <p:cNvSpPr txBox="1"/>
          <p:nvPr/>
        </p:nvSpPr>
        <p:spPr>
          <a:xfrm>
            <a:off x="3751006" y="2971952"/>
            <a:ext cx="4689987" cy="9140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R="0" algn="ctr">
              <a:lnSpc>
                <a:spcPct val="115000"/>
              </a:lnSpc>
              <a:spcBef>
                <a:spcPts val="0"/>
              </a:spcBef>
              <a:spcAft>
                <a:spcPts val="675"/>
              </a:spcAft>
            </a:pPr>
            <a:r>
              <a:rPr lang="en-US" sz="4800" dirty="0">
                <a:solidFill>
                  <a:srgbClr val="000000"/>
                </a:solidFill>
                <a:latin typeface="Segoe Print" panose="02000600000000000000" pitchFamily="2" charset="0"/>
                <a:ea typeface="Times New Roman" panose="02020603050405020304" pitchFamily="18" charset="0"/>
              </a:rPr>
              <a:t>Thank You!</a:t>
            </a:r>
            <a:endParaRPr lang="en-US" sz="1800" dirty="0">
              <a:solidFill>
                <a:srgbClr val="000000"/>
              </a:solidFill>
              <a:effectLst/>
              <a:latin typeface="Segoe Print" panose="02000600000000000000" pitchFamily="2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9754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1265</TotalTime>
  <Words>1120</Words>
  <Application>Microsoft Office PowerPoint</Application>
  <PresentationFormat>Widescreen</PresentationFormat>
  <Paragraphs>147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Garamond</vt:lpstr>
      <vt:lpstr>Segoe Print</vt:lpstr>
      <vt:lpstr>Times New Roman</vt:lpstr>
      <vt:lpstr>Wingdings</vt:lpstr>
      <vt:lpstr>Organic</vt:lpstr>
      <vt:lpstr>Resume Analyzer System </vt:lpstr>
      <vt:lpstr>Outlines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Pramod Singh</dc:creator>
  <cp:lastModifiedBy>Pramod Singh</cp:lastModifiedBy>
  <cp:revision>250</cp:revision>
  <dcterms:created xsi:type="dcterms:W3CDTF">2022-06-02T13:40:34Z</dcterms:created>
  <dcterms:modified xsi:type="dcterms:W3CDTF">2025-07-15T13:44:22Z</dcterms:modified>
</cp:coreProperties>
</file>